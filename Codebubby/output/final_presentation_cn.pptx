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标题页：介绍论文基本信息。本文提出基于31项叶相特征的集成机器学习框架，采用两阶段温度感知架构，重建7个气候变量。训练集覆盖393个现代植物群落样本，验证集包含71个化石叶片组合。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介绍研究背景。传统方法包括CLAMP（叶相-气候多元分析）、LMA（叶缘分析）和DLP（数字叶相学），它们主要依赖线性统计方法，且目标变量有限。三个核心瓶颈：线性假设、变量覆盖不足、空间外推能力弱。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论文围绕三个具体挑战展开：(1) 非线性建模——集成ML能否超越CCA等线性方法；(2) 变量扩展——首次尝试从叶相重建比湿和焓值等热力学参数；(3) 空间泛化——严格空间交叉验证确保化石迁移可靠性。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框架总览：(1) 31项叶相性状输入 → (2) QuantileTransformer归一化 → (3) 阶段1：RF+XGB+GBDT+SVR加权集成预测4个温度变量 → (4) 阶段2：将预测温度作为辅助特征（35维），预测水分-能量变量 → (5) 自适应融合系数α防止阶段1误差传播。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集介绍：训练集393个样本来自全球植被样方（378）加青藏高原补充（15）；化石验证集71个样品以亚洲为主。31项叶相性状分为5类：齿型7、叶级9、叶尖4、叶基3、长宽比5、通用叶形3。7个气候目标分为温度类和热力学水分-能量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基模型的关键参数和权重分配。RF权重最高(0.40)，因其在多个变量上表现稳健；SVR权重最低(0.10)，因其对多数变量预测性能差。空间交叉验证是关键设计，防止同一地理区域的样本同时出现在训练集和验证集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两阶段架构的核心创新：(1) 阶段1用31个性状预测温度；(2) 阶段2将预测温度与原始性状拼接，利用Clausius-Clapeyron关系约束水分-能量变量；(3) 自适应融合系数α根据交叉验证性能动态调整，当温度信息有助于预测时使用增强模型，否则回退到基线模型。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温度变量结果：CMMT表现最好(R²=0.802)，与叶齿型与冷季温度的强关联一致；GROWSEAS(R²=0.608)和MAT(R²=0.579)次之；WMMT(R²=-1.045)完全失败，原因是叶片形态主要整合生长季条件，而非单月极端温度。Fig.2展示了4个代表变量的观测vs预测散点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两阶段架构的关键发现：(1) RH始终不可预测——它同时受水分含量和温度控制，对局地过程敏感；(2) SH和ENTHAL从几乎为零提升至中等水平(R²=0.329和0.459)，证实了温度信息通过Clausius-Clapeyron关系提供了热力学约束；(3) 这种从叶相到大气水分的信号重建在叶相学文献中尚无先例。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征重要性分析：齿型相关性状占据主导（密齿25.5%、无齿13.1%、复齿11.0%），这一结果与叶片齿型作为温度代用指标的经典认识完全一致。叶尖和叶基性状的重要性最低（&lt;3%），表明这些性状可能更多受系统发育约束，而非气候适应。随机森林贡献了40%的正R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模型对比：RF在多数温度变量上略优于集成，但集成提供了最均衡的性能。SVR即使赋权0.10，在SH和ENTHAL的表现仍差。关键发现：WMMT和RH对所有模型R² &lt; 0 → 问题在于性状信号弱，而非模型能力不足。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对比分析：(1) CMMT R²=0.802达到或超过CLAMP报道值；(2) MAT R²=0.579略低于CLAMP，可能因为化石数据地理多样性大（含高海拔青藏高原样点）；(3) 额外预测了GROWSEAS和热力学变量。本研究框架旨在补充而非替代CLAMP。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四个关键局限：(1) 化石地理偏差；(2) WMMT和RH的信号弱；(3) 两阶段误差传播；(4) 训练数据量偏小。未来方向：扩展化石覆盖、增加新性状类型、采用物理信息神经网络、扩充训练集覆盖不够的生物群系。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总结：(1) 31项叶相性状+集成ML可可靠重建3个温度变量(CMMT最佳)；(2) 两阶段架构首次从叶相约束了比湿和焓值——这在叶相学文献中无先例；(3) 目标不是替代CLAMP，而是提供能交叉验证和扩展变量覆盖的互补工具。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88888"/>
                </a:solidFill>
                <a:latin typeface="Microsoft YaHei"/>
              </a:rPr>
              <a:t>Climate of the Past  ·  学术报告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</a:rPr>
              <a:t>叶相特征集成机器学习
古气候重建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—— 两阶段温度感知框架与热力学气候目标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88888"/>
                </a:solidFill>
                <a:latin typeface="Microsoft YaHei"/>
              </a:rPr>
              <a:t>目标期刊：Climate of the Past (CP)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88888"/>
                </a:solidFill>
                <a:latin typeface="Microsoft YaHei"/>
              </a:rPr>
              <a:t>论文类型：Research Article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4389120"/>
            <a:ext cx="3840480" cy="1828800"/>
          </a:xfrm>
          <a:prstGeom prst="rect">
            <a:avLst/>
          </a:prstGeom>
          <a:noFill/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480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现代训练集</a:t>
            </a:r>
          </a:p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393 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4480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化石验证集</a:t>
            </a:r>
          </a:p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71 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074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叶片性状</a:t>
            </a:r>
          </a:p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31 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074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气候变量</a:t>
            </a:r>
          </a:p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7 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669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最佳性能</a:t>
            </a:r>
          </a:p>
          <a:p>
            <a:pPr algn="l"/>
            <a:r>
              <a:rPr sz="1600" b="1">
                <a:solidFill>
                  <a:srgbClr val="27AE60"/>
                </a:solidFill>
                <a:latin typeface="Arial"/>
              </a:rPr>
              <a:t>CMMT R² = 0.802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研究背景：传统古气候重建方法的瓶颈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● 叶相特征是成功的陆地古气候代用指标 (Wolfe, 1979; Wilf, 1997)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● CLAMP / LMA / DLP 等主流方法依赖线性统计（CCA / 线性回归）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● 无法捕捉叶相—气候间的非线性关系 (Wright et al., 2017)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● 目标变量局限于温度与降水，缺失热力学水分-能量参数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● 化石训练集地理聚类 → 空间外推至新气候区时可靠性存疑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371600"/>
            <a:ext cx="45720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5720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</a:rPr>
              <a:t>01  线性假设限制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CCA/线性回归无法建模复杂非线性响应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606040"/>
            <a:ext cx="45720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2606040"/>
            <a:ext cx="4572000" cy="381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74320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B5C8A"/>
                </a:solidFill>
                <a:latin typeface="Microsoft YaHei"/>
              </a:rPr>
              <a:t>02  变量覆盖不足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108960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缺少比湿(SH)、焓值(ENTHAL)等热力学目标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840480"/>
            <a:ext cx="45720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3840480"/>
            <a:ext cx="4572000" cy="38100"/>
          </a:xfrm>
          <a:prstGeom prst="rect">
            <a:avLst/>
          </a:prstGeom>
          <a:solidFill>
            <a:srgbClr val="247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97764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475A0"/>
                </a:solidFill>
                <a:latin typeface="Microsoft YaHei"/>
              </a:rPr>
              <a:t>03  空间外推风险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343400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地理聚类数据 → 对新气候区泛化能力不足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88888"/>
                </a:solidFill>
                <a:latin typeface="Microsoft YaHei"/>
              </a:rPr>
              <a:t>References: Wolfe 1979, 1993; Wilf 1997; Peppe et al. 2011, 2024; Wright et al. 2017; Spicer et al. 2004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核心科学问题：三个挑战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挑战 1｜非线性建模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   → RF / XGBoost / GBDT 集成模型能否优于传统线性方法，捕捉叶相—气候间的复杂非线性关系？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挑战 2｜变量扩展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   → 能否通过两阶段温度感知架构，首次从叶相特征中约束大气水分与能量含量（RH, SH, ENTHAL）？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挑战 3｜空间泛化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Microsoft YaHei"/>
              </a:rPr>
              <a:t>   → 严格的10折空间交叉验证下，模型能否可靠迁移至跨洲际化石组合（亚洲65 + 欧洲4 + 北美2）？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554480"/>
            <a:ext cx="29260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研究目标
以 31 项叶相性状
+ 393 现代样本
→ 同时重建 7 个气候变量
→ 量化不确定性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方法总览：两阶段集成学习框架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127" y="1645920"/>
            <a:ext cx="2011680" cy="2377440"/>
          </a:xfrm>
          <a:prstGeom prst="rect">
            <a:avLst/>
          </a:prstGeom>
          <a:solidFill>
            <a:srgbClr val="F5F5F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5127" y="1645920"/>
            <a:ext cx="2011680" cy="50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287" y="182880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D2D2D"/>
                </a:solidFill>
                <a:latin typeface="Microsoft YaHei"/>
              </a:rPr>
              <a:t>31 叶相性状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287" y="256032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齿型 7项
叶级 9项
叶形 15项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6807" y="24688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2567" y="1645920"/>
            <a:ext cx="2011680" cy="2377440"/>
          </a:xfrm>
          <a:prstGeom prst="rect">
            <a:avLst/>
          </a:prstGeom>
          <a:solidFill>
            <a:srgbClr val="F5F5F5"/>
          </a:solidFill>
          <a:ln w="63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12567" y="1645920"/>
            <a:ext cx="2011680" cy="508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9727" y="182880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B5C8A"/>
                </a:solidFill>
                <a:latin typeface="Microsoft YaHei"/>
              </a:rPr>
              <a:t>QuantileTransformer
归一化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9727" y="256032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映射至标准正态
稳健于异常值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24688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0007" y="1645920"/>
            <a:ext cx="2011680" cy="2377440"/>
          </a:xfrm>
          <a:prstGeom prst="rect">
            <a:avLst/>
          </a:prstGeom>
          <a:solidFill>
            <a:srgbClr val="F5F5F5"/>
          </a:solidFill>
          <a:ln w="6350">
            <a:solidFill>
              <a:srgbClr val="247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0007" y="1645920"/>
            <a:ext cx="2011680" cy="50800"/>
          </a:xfrm>
          <a:prstGeom prst="rect">
            <a:avLst/>
          </a:prstGeom>
          <a:solidFill>
            <a:srgbClr val="247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7167" y="182880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475A0"/>
                </a:solidFill>
                <a:latin typeface="Microsoft YaHei"/>
              </a:rPr>
              <a:t>阶段1：温度预测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7167" y="256032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MAT / WMMT
CMMT / GROWSEAS
加权集成 (RF+XGB+GBDT+SVR)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1687" y="24688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7447" y="1645920"/>
            <a:ext cx="2011680" cy="237744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7447" y="1645920"/>
            <a:ext cx="201168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4607" y="182880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7AE60"/>
                </a:solidFill>
                <a:latin typeface="Microsoft YaHei"/>
              </a:rPr>
              <a:t>阶段2：水分-能量预测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4607" y="256032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35维特征
(31 性状 + 4 预测温度)
RH / SH / ENTHAL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9127" y="24688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44887" y="1645920"/>
            <a:ext cx="2011680" cy="2377440"/>
          </a:xfrm>
          <a:prstGeom prst="rect">
            <a:avLst/>
          </a:prstGeom>
          <a:solidFill>
            <a:srgbClr val="F5F5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44887" y="1645920"/>
            <a:ext cx="201168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2047" y="1828800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C0392B"/>
                </a:solidFill>
                <a:latin typeface="Microsoft YaHei"/>
              </a:rPr>
              <a:t>自适应融合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2047" y="256032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α = min(0.5, max(0.1,
2×(CVₑ − CV_b)))
防误差传播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2743200" cy="127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RF 权重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0.40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XGB 权重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0.25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GBDT 权重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0.25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SVR 权重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0.10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572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Microsoft YaHei"/>
              </a:rPr>
              <a:t>10折空间CV</a:t>
            </a:r>
          </a:p>
          <a:p>
            <a:pPr algn="l"/>
            <a:r>
              <a:rPr sz="1400" b="1">
                <a:solidFill>
                  <a:srgbClr val="2D2D2D"/>
                </a:solidFill>
                <a:latin typeface="Arial"/>
              </a:rPr>
              <a:t>防信息泄漏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数据集：从现代训练到化石验证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247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530352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475A0"/>
                </a:solidFill>
                <a:latin typeface="Microsoft YaHei"/>
              </a:rPr>
              <a:t>现代训练集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393 植物群落样本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全球375 + 青藏高原15（高海拔冷适应）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31 项叶相性状（比例数据，[0,1]）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7 个气候目标变量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7AE60"/>
                </a:solidFill>
                <a:latin typeface="Microsoft YaHei"/>
              </a:rPr>
              <a:t>化石验证集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71 化石叶片组合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亚洲 65 / 欧洲 4 / 北美 2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相同 31 项性状测量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用于迁移性能评估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2743200" cy="127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/>
              </a:rPr>
              <a:t>31项性状分5大类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齿型 (7)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齿型 (7)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554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2D2D"/>
                </a:solidFill>
                <a:latin typeface="Microsoft YaHei"/>
              </a:rPr>
              <a:t>有齿/无齿/锯齿
规则齿/圆齿/锐齿/复齿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4016" y="448056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叶级 (9)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4617720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叶级 (9)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4892040"/>
            <a:ext cx="1554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2D2D"/>
                </a:solidFill>
                <a:latin typeface="Microsoft YaHei"/>
              </a:rPr>
              <a:t>Raunkiaer-Webb 分类
纳米叶 → 大叶3级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448056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叶尖 (4)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4617720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叶尖 (4)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892040"/>
            <a:ext cx="1554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2D2D"/>
                </a:solidFill>
                <a:latin typeface="Microsoft YaHei"/>
              </a:rPr>
              <a:t>微凹/圆/锐尖/渐尖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448056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叶基 (3)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617720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叶基 (3)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892040"/>
            <a:ext cx="1554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2D2D"/>
                </a:solidFill>
                <a:latin typeface="Microsoft YaHei"/>
              </a:rPr>
              <a:t>心形/圆/锐尖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4464" y="448056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长宽比 (5)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617720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长宽比 (5)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892040"/>
            <a:ext cx="1554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2D2D"/>
                </a:solidFill>
                <a:latin typeface="Microsoft YaHei"/>
              </a:rPr>
              <a:t>&lt;1:1 至 &gt;4:1
5个等级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4480560"/>
            <a:ext cx="1691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通用叶形 (3)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4617720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通用叶形 (3)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892040"/>
            <a:ext cx="1554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D2D2D"/>
                </a:solidFill>
                <a:latin typeface="Microsoft YaHei"/>
              </a:rPr>
              <a:t>倒卵形/椭圆形/卵形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126480"/>
            <a:ext cx="2743200" cy="127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/>
              </a:rPr>
              <a:t>7个气候目标：温度变量 (MAT, WMMT, CMMT, GROWSEAS) ｜ 水分-能量变量 (RH, SH, ENTHAL)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关键设计 1：四模型加权集成与空间交叉验证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247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50800"/>
          </a:xfrm>
          <a:prstGeom prst="rect">
            <a:avLst/>
          </a:prstGeom>
          <a:solidFill>
            <a:srgbClr val="247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475A0"/>
                </a:solidFill>
                <a:latin typeface="Microsoft YaHei"/>
              </a:rPr>
              <a:t>随机森林
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2D2D2D"/>
                </a:solidFill>
                <a:latin typeface="Microsoft YaHei"/>
              </a:rPr>
              <a:t>500棵树
max depth=10
min leaf=5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2475A0"/>
                </a:solidFill>
                <a:latin typeface="Microsoft YaHei"/>
              </a:rPr>
              <a:t>w = 0.40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56032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560320" cy="508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B5C8A"/>
                </a:solidFill>
                <a:latin typeface="Microsoft YaHei"/>
              </a:rP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2D2D2D"/>
                </a:solidFill>
                <a:latin typeface="Microsoft YaHei"/>
              </a:rPr>
              <a:t>200轮
max depth=4
lr=0.05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2B5C8A"/>
                </a:solidFill>
                <a:latin typeface="Microsoft YaHei"/>
              </a:rPr>
              <a:t>w = 0.25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56032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560320" cy="50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087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7AE60"/>
                </a:solidFill>
                <a:latin typeface="Microsoft YaHei"/>
              </a:rPr>
              <a:t>梯度提升
GBDT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2D2D2D"/>
                </a:solidFill>
                <a:latin typeface="Microsoft YaHei"/>
              </a:rPr>
              <a:t>200轮
max depth=3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346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27AE60"/>
                </a:solidFill>
                <a:latin typeface="Microsoft YaHei"/>
              </a:rPr>
              <a:t>w = 0.25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56032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371600"/>
            <a:ext cx="2560320" cy="5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087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888888"/>
                </a:solidFill>
                <a:latin typeface="Microsoft YaHei"/>
              </a:rPr>
              <a:t>支持向量回归
SVR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9456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2D2D2D"/>
                </a:solidFill>
                <a:latin typeface="Microsoft YaHei"/>
              </a:rPr>
              <a:t>RBF核
C=1.0, ε=0.1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346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888888"/>
                </a:solidFill>
                <a:latin typeface="Microsoft YaHei"/>
              </a:rPr>
              <a:t>w = 0.10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2743200" cy="190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/>
              </a:rPr>
              <a:t>10折空间分层交叉验证 —— 防止地理邻近样本的信息泄漏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网格搜索优化各模型权重，最小化交叉验证 RMSE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每个fold的预测为各模型输出的加权平均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评估指标：R²、RMSE（均方根误差）、MAE（平均绝对误差）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QuantileTransformer 归一化：映射至标准正态分布，稳健于成分数据的异常值与非正态分布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关键设计 2：两阶段温度感知架构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247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475A0"/>
                </a:solidFill>
                <a:latin typeface="Microsoft YaHei"/>
              </a:rPr>
              <a:t>阶段 1：温度预测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输入：31 项叶相性状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输出：MAT, WMMT, CMMT, GROWSEAS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模型：RF+XGB+GBDT+SVR 加权集成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92024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888888"/>
                </a:solidFill>
                <a:latin typeface="Microsoft YaHei"/>
              </a:rPr>
              <a:t>━━━━━→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50292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  <a:latin typeface="Microsoft YaHei"/>
              </a:rPr>
              <a:t>阶段 2：水分-能量预测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输入：31 性状 + 4 预测温度 = 35 维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输出：RH, SH, ENTHAL (热力学耦合)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原理：Clausius-Clapeyron 关系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2743200" cy="190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/>
              </a:rPr>
              <a:t>自适应融合机制 —— 防误差传播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α = min(0.5, max(0.1, 2 × (CV增强 − CV基线)))
温度增强提升CV R² → 倾向增强预测 | 温度增强降低CV R² → 回退至仅性状基线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主要结果 1：温度变量的化石迁移性能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2004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716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✓ 最佳：CMMT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R² = 0.802
RMSE = 2.92°C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3200400" cy="914400"/>
          </a:xfrm>
          <a:prstGeom prst="rect">
            <a:avLst/>
          </a:prstGeom>
          <a:solidFill>
            <a:srgbClr val="247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37160" cy="914400"/>
          </a:xfrm>
          <a:prstGeom prst="rect">
            <a:avLst/>
          </a:prstGeom>
          <a:solidFill>
            <a:srgbClr val="247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GROWSEAS R² = 0.608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MAT R² = 0.579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32004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3716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✗ 不可用：WMMT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R² = -1.045</a:t>
            </a:r>
          </a:p>
        </p:txBody>
      </p:sp>
      <p:pic>
        <p:nvPicPr>
          <p:cNvPr id="16" name="Picture 15" descr="Fig2_obs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71600"/>
            <a:ext cx="77724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31920" y="63093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88888"/>
                </a:solidFill>
                <a:latin typeface="Microsoft YaHei"/>
              </a:rPr>
              <a:t>Source: Fig. 2 (Observed vs. Ensemble-Predicted)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主要结果 2：两阶段架构对水分-能量变量的提升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1645920"/>
          </a:xfrm>
          <a:prstGeom prst="rect">
            <a:avLst/>
          </a:prstGeom>
          <a:solidFill>
            <a:srgbClr val="F5F5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</a:rPr>
              <a:t>基线（仅叶相性状）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RH  R² ≈ 0        不可预测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SH  R² ≈ 0        无信息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ENTHAL  R² ≈ 0    无信号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2880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B5C8A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5029200" cy="164592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630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7AE60"/>
                </a:solidFill>
                <a:latin typeface="Microsoft YaHei"/>
              </a:rPr>
              <a:t>增强（+ 预测温度）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RH  R² = -0.072   仍不可预测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SH  R² = 0.329    ΔR² = +0.33  △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ENTHAL  R² = 0.459  ΔR² = +0.46  △</a:t>
            </a:r>
          </a:p>
        </p:txBody>
      </p:sp>
      <p:pic>
        <p:nvPicPr>
          <p:cNvPr id="11" name="Picture 10" descr="Fig5_two_stage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5669280" cy="2468880"/>
          </a:xfrm>
          <a:prstGeom prst="rect">
            <a:avLst/>
          </a:prstGeom>
        </p:spPr>
      </p:pic>
      <p:pic>
        <p:nvPicPr>
          <p:cNvPr id="12" name="Picture 11" descr="Fig1_trait_climate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91840"/>
            <a:ext cx="5394960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88888"/>
                </a:solidFill>
                <a:latin typeface="Microsoft YaHei"/>
              </a:rPr>
              <a:t>Source: Fig. 5 (Two-stage performance &amp; residuals) &amp; Fig. 1 (trait-climate correlations)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特征重要性：叶片齿型占据主导地位</a:t>
            </a:r>
          </a:p>
        </p:txBody>
      </p:sp>
      <p:pic>
        <p:nvPicPr>
          <p:cNvPr id="4" name="Picture 3" descr="Fig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Top 5 最重要性状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920240"/>
            <a:ext cx="4114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93852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0392B"/>
                </a:solidFill>
                <a:latin typeface="Microsoft YaHei"/>
              </a:rPr>
              <a:t>#1  密齿 (Teeth Close)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93852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C0392B"/>
                </a:solidFill>
                <a:latin typeface="Microsoft YaHei"/>
              </a:rPr>
              <a:t>25.5%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423160"/>
            <a:ext cx="4114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247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44144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475A0"/>
                </a:solidFill>
                <a:latin typeface="Microsoft YaHei"/>
              </a:rPr>
              <a:t>#2  无齿 (No Teeth)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44144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475A0"/>
                </a:solidFill>
                <a:latin typeface="Microsoft YaHei"/>
              </a:rPr>
              <a:t>13.1%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926080"/>
            <a:ext cx="4114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9443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B5C8A"/>
                </a:solidFill>
                <a:latin typeface="Microsoft YaHei"/>
              </a:rPr>
              <a:t>#3  复齿 (Teeth Compo)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94436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B5C8A"/>
                </a:solidFill>
                <a:latin typeface="Microsoft YaHei"/>
              </a:rPr>
              <a:t>11.0%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429000"/>
            <a:ext cx="4114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4472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7AE60"/>
                </a:solidFill>
                <a:latin typeface="Microsoft YaHei"/>
              </a:rPr>
              <a:t>#4  中 叶 2 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44728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7AE60"/>
                </a:solidFill>
                <a:latin typeface="Microsoft YaHei"/>
              </a:rPr>
              <a:t>6.5%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931920"/>
            <a:ext cx="4114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95020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88888"/>
                </a:solidFill>
                <a:latin typeface="Microsoft YaHei"/>
              </a:rPr>
              <a:t>#5  微叶 1 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95020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888888"/>
                </a:solidFill>
                <a:latin typeface="Microsoft YaHei"/>
              </a:rPr>
              <a:t>4.4%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572000"/>
            <a:ext cx="1828800" cy="127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47548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• 齿型性状贡献 &gt;50% 总重要性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• 与 LMA 方法的生态学原理一致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• 叶级中等级别贡献，叶尖/叶基 &lt;3%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100">
                <a:solidFill>
                  <a:srgbClr val="2D2D2D"/>
                </a:solidFill>
                <a:latin typeface="Microsoft YaHei"/>
              </a:rPr>
              <a:t>• RF 贡献 40% R²，XGB/GBDT 各 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63093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88888"/>
                </a:solidFill>
                <a:latin typeface="Microsoft YaHei"/>
              </a:rPr>
              <a:t>Source: Fig. 3 (Feature importance &amp; model composition)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模型对比：集成 vs. 单一模型</a:t>
            </a:r>
          </a:p>
        </p:txBody>
      </p:sp>
      <p:pic>
        <p:nvPicPr>
          <p:cNvPr id="4" name="Picture 3" descr="Fig4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/>
              </a:rPr>
              <a:t>化石 R² 对比（表2摘要）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874519"/>
            <a:ext cx="109728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74519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874519"/>
            <a:ext cx="77724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7451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874519"/>
            <a:ext cx="77724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87451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CMMT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1874519"/>
            <a:ext cx="960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874519"/>
            <a:ext cx="960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GROWSEAS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69880" y="1874519"/>
            <a:ext cx="6858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874519"/>
            <a:ext cx="685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0" y="1874519"/>
            <a:ext cx="7315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1874519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ENTHAL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194560"/>
            <a:ext cx="1097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1945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RF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194560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1945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0.664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2194560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19456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0.769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194560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194560"/>
            <a:ext cx="960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0.703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9880" y="2194560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2194560"/>
            <a:ext cx="685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0.353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55680" y="2194560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21945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0.562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514600"/>
            <a:ext cx="1097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5146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XGBoost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2514600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251460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0.593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514600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51460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0.802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2514600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2514600"/>
            <a:ext cx="960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0.641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69880" y="2514600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2514600"/>
            <a:ext cx="685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0.409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55680" y="2514600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0" y="251460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0.510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834639"/>
            <a:ext cx="1097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834639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GBDT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2834639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283463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0.598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2834639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283463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0.710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2834639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2834639"/>
            <a:ext cx="960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7AE60"/>
                </a:solidFill>
                <a:latin typeface="Microsoft YaHei"/>
              </a:rPr>
              <a:t>0.529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69880" y="2834639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2834639"/>
            <a:ext cx="685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0.376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55680" y="2834639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5680" y="2834639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0.499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3154679"/>
            <a:ext cx="1097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3154679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SVR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79" y="3154679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79" y="315467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0.010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32520" y="3154679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32520" y="3154679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0.426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3154679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760" y="3154679"/>
            <a:ext cx="960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C0392B"/>
                </a:solidFill>
                <a:latin typeface="Microsoft YaHei"/>
              </a:rPr>
              <a:t>-0.024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69880" y="3154679"/>
            <a:ext cx="685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69880" y="3154679"/>
            <a:ext cx="685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2D2D2D"/>
                </a:solidFill>
                <a:latin typeface="Microsoft YaHei"/>
              </a:rPr>
              <a:t>0.127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155680" y="3154679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155680" y="3154679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C0392B"/>
                </a:solidFill>
                <a:latin typeface="Microsoft YaHei"/>
              </a:rPr>
              <a:t>-0.052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3474720"/>
            <a:ext cx="10972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0" y="34747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2D2D2D"/>
                </a:solidFill>
                <a:latin typeface="Microsoft YaHei"/>
              </a:rPr>
              <a:t>Ensemble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79" y="3474720"/>
            <a:ext cx="7772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79" y="34747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27AE60"/>
                </a:solidFill>
                <a:latin typeface="Microsoft YaHei"/>
              </a:rPr>
              <a:t>0.579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32520" y="3474720"/>
            <a:ext cx="7772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32520" y="347472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27AE60"/>
                </a:solidFill>
                <a:latin typeface="Microsoft YaHei"/>
              </a:rPr>
              <a:t>0.802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3474720"/>
            <a:ext cx="960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60" y="3474720"/>
            <a:ext cx="960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27AE60"/>
                </a:solidFill>
                <a:latin typeface="Microsoft YaHei"/>
              </a:rPr>
              <a:t>0.608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69880" y="3474720"/>
            <a:ext cx="685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69880" y="3474720"/>
            <a:ext cx="685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2D2D2D"/>
                </a:solidFill>
                <a:latin typeface="Microsoft YaHei"/>
              </a:rPr>
              <a:t>0.329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155680" y="3474720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155680" y="34747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2D2D2D"/>
                </a:solidFill>
                <a:latin typeface="Microsoft YaHei"/>
              </a:rPr>
              <a:t>0.459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000">
                <a:solidFill>
                  <a:srgbClr val="2D2D2D"/>
                </a:solidFill>
                <a:latin typeface="Microsoft YaHei"/>
              </a:rPr>
              <a:t>• 集成并非在每个变量上都最优,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000">
                <a:solidFill>
                  <a:srgbClr val="2D2D2D"/>
                </a:solidFill>
                <a:latin typeface="Microsoft YaHei"/>
              </a:rPr>
              <a:t>  但提供最均衡的多变量表现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000">
                <a:solidFill>
                  <a:srgbClr val="2D2D2D"/>
                </a:solidFill>
                <a:latin typeface="Microsoft YaHei"/>
              </a:rPr>
              <a:t>• SVR 在多数变量上 R² &lt; 0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000">
                <a:solidFill>
                  <a:srgbClr val="2D2D2D"/>
                </a:solidFill>
                <a:latin typeface="Microsoft YaHei"/>
              </a:rPr>
              <a:t>• WMMT &amp; RH 所有模型均失败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000">
                <a:solidFill>
                  <a:srgbClr val="2D2D2D"/>
                </a:solidFill>
                <a:latin typeface="Microsoft YaHei"/>
              </a:rPr>
              <a:t>  → 弱性状信号，非模型不足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0" y="63093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888888"/>
                </a:solidFill>
                <a:latin typeface="Microsoft YaHei"/>
              </a:rPr>
              <a:t>Source: Fig. 4 &amp; Table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与CLAMP等传统方法的对比与优势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性能对比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459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828800"/>
            <a:ext cx="100584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MAT R²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828800"/>
            <a:ext cx="100584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CMMT 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828800"/>
            <a:ext cx="7315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82880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变量数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828800"/>
            <a:ext cx="64008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82880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非线性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CLAMP (CCA)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148840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14884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0.7–0.8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148840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14884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0.7–0.8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148840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14884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3–5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148840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14884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6888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468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DLP (线性回归)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468880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246888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0.5–0.7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468880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246888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2468880"/>
            <a:ext cx="731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2468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468880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246888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88920"/>
            <a:ext cx="16459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7889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D2D2D"/>
                </a:solidFill>
                <a:latin typeface="Microsoft YaHei"/>
              </a:rPr>
              <a:t>本研究 (集成ML)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788920"/>
            <a:ext cx="1005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278892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7AE60"/>
                </a:solidFill>
                <a:latin typeface="Microsoft YaHei"/>
              </a:rPr>
              <a:t>0.579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2788920"/>
            <a:ext cx="1005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278892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7AE60"/>
                </a:solidFill>
                <a:latin typeface="Microsoft YaHei"/>
              </a:rPr>
              <a:t>0.802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2788920"/>
            <a:ext cx="7315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27889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7AE60"/>
                </a:solidFill>
                <a:latin typeface="Microsoft YaHei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788920"/>
            <a:ext cx="6400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278892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27AE60"/>
                </a:solidFill>
                <a:latin typeface="Microsoft YaHe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83280"/>
            <a:ext cx="1828800" cy="25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7AE60"/>
                </a:solidFill>
                <a:latin typeface="Microsoft YaHei"/>
              </a:rPr>
              <a:t>本研究的三个独特优势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023360"/>
            <a:ext cx="1828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0233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A1A2E"/>
                </a:solidFill>
                <a:latin typeface="Microsoft YaHei"/>
              </a:rPr>
              <a:t>非线性建模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389120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捕捉复杂性状—气候关系，不预设函数形式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4023360"/>
            <a:ext cx="1828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68880" y="40233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A1A2E"/>
                </a:solidFill>
                <a:latin typeface="Microsoft YaHei"/>
              </a:rPr>
              <a:t>扩展目标变量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4389120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首次从叶相约束 SH 与 ENTHAL（热力学参数）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4023360"/>
            <a:ext cx="18288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0560" y="40233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A1A2E"/>
                </a:solidFill>
                <a:latin typeface="Microsoft YaHei"/>
              </a:rPr>
              <a:t>内部一致性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4389120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2D2D2D"/>
                </a:solidFill>
                <a:latin typeface="Microsoft YaHei"/>
              </a:rPr>
              <a:t>统一特征集 → 同时预测7变量，满足热力学约束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3383280"/>
            <a:ext cx="1828800" cy="190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35661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B5C8A"/>
                </a:solidFill>
                <a:latin typeface="Microsoft YaHei"/>
              </a:rPr>
              <a:t>互补而非替代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0233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为同一化石组合提供独立重建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可交叉验证 CLAMP 估计结果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预测 CLAMP 未覆盖的气候变量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所有代码、模型、预测结果开源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32688"/>
            <a:ext cx="1828800" cy="3175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A1A2E"/>
                </a:solidFill>
                <a:latin typeface="Microsoft YaHei"/>
              </a:rPr>
              <a:t>局限性与未来方向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C0392B"/>
                </a:solidFill>
                <a:latin typeface="Microsoft YaHei"/>
              </a:rPr>
              <a:t>地理偏差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化石验证集以亚洲为主 (65/71)，
欧美代表性不足 → 降低全球泛化信心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65176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381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087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B5C8A"/>
                </a:solidFill>
                <a:latin typeface="Microsoft YaHei"/>
              </a:rPr>
              <a:t>信号弱变量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WMMT (R²=-1.045) 和 RH (R²=-0.072)
所有模型均失败 → 核心性状信号缺失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65176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2B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38100"/>
          </a:xfrm>
          <a:prstGeom prst="rect">
            <a:avLst/>
          </a:prstGeom>
          <a:solidFill>
            <a:srgbClr val="2B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B5C8A"/>
                </a:solidFill>
                <a:latin typeface="Microsoft YaHei"/>
              </a:rPr>
              <a:t>误差传播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两阶段架构继承阶段1温度预测误差，
自适应α无法完全纠正系统性偏差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65176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247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38100"/>
          </a:xfrm>
          <a:prstGeom prst="rect">
            <a:avLst/>
          </a:prstGeom>
          <a:solidFill>
            <a:srgbClr val="247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50876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475A0"/>
                </a:solidFill>
                <a:latin typeface="Microsoft YaHei"/>
              </a:rPr>
              <a:t>训练集规模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92024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D2D2D"/>
                </a:solidFill>
                <a:latin typeface="Microsoft YaHei"/>
              </a:rPr>
              <a:t>393样本对ML而言偏小，
缺少寒带/热带干旱/地中海灌丛数据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2743200" cy="25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  <a:latin typeface="Microsoft YaHei"/>
              </a:rPr>
              <a:t>未来改进方向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扩展化石组合的地理覆盖（非亚洲地区）→ 增强泛化能力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增加叶脉密度、角质层特征等新性状 → 改进 WMMT 预测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替代架构：多任务学习共享特征表示 / 物理信息神经网络嵌入 Clausius-Clapeyron 约束 → 提升水分-能量预测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• 扩充训练数据：纳入寒带森林、热带干旱林、地中海灌丛等欠代表生物群系 → 覆盖全气候空间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总结与贡献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叶相特征集成机器学习古气候重建 —— 两阶段温度感知框架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1  非线性集成框架 —— RF + XGBoost + GBDT + SVR 加权集成，以统一特征集同时预测7个气候变量，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   CMMT R² = 0.802，GROWSEAS R² = 0.608，MAT R² = 0.579，性能达到或超过 CLAMP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2  两阶段温度感知架构 —— 首次从叶相特征部分重建大气水分与能量含量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   SH R² = 0.329 (Δ+0.33)，ENTHAL R² = 0.459 (Δ+0.46)，填补了叶相学文献空白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/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3  开源可复现 —— 所有代码、训练模型、化石预测结果已作为补充材料提供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Microsoft YaHei"/>
              </a:rPr>
              <a:t>   面向：古气候研究者可交叉验证 CLAMP 估计、获取 CLAMP 未覆盖的新变量预测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669280"/>
            <a:ext cx="1828800" cy="317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2E"/>
                </a:solidFill>
                <a:latin typeface="Microsoft YaHei"/>
              </a:rPr>
              <a:t>谢谢！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88888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